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Loss</c:v>
                </c:pt>
              </c:strCache>
            </c:strRef>
          </c:tx>
          <c:spPr>
            <a:solidFill>
              <a:srgbClr val="00D4FF"/>
            </a:solidFill>
            <a:ln w="31750" cap="flat">
              <a:solidFill>
                <a:srgbClr val="00D4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D4FF"/>
              </a:solidFill>
              <a:ln w="9525" cap="flat">
                <a:solidFill>
                  <a:srgbClr val="00D4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E1</c:v>
                  </c:pt>
                  <c:pt idx="1">
                    <c:v>E3</c:v>
                  </c:pt>
                  <c:pt idx="2">
                    <c:v>E5</c:v>
                  </c:pt>
                  <c:pt idx="3">
                    <c:v>E7</c:v>
                  </c:pt>
                  <c:pt idx="4">
                    <c:v>E9</c:v>
                  </c:pt>
                  <c:pt idx="5">
                    <c:v>E11</c:v>
                  </c:pt>
                  <c:pt idx="6">
                    <c:v>E13</c:v>
                  </c:pt>
                  <c:pt idx="7">
                    <c:v>E15</c:v>
                  </c:pt>
                  <c:pt idx="8">
                    <c:v>E17</c:v>
                  </c:pt>
                  <c:pt idx="9">
                    <c:v>E19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2.4</c:v>
                </c:pt>
                <c:pt idx="1">
                  <c:v>2</c:v>
                </c:pt>
                <c:pt idx="2">
                  <c:v>1.7</c:v>
                </c:pt>
                <c:pt idx="3">
                  <c:v>1.45</c:v>
                </c:pt>
                <c:pt idx="4">
                  <c:v>1.25</c:v>
                </c:pt>
                <c:pt idx="5">
                  <c:v>1.1</c:v>
                </c:pt>
                <c:pt idx="6">
                  <c:v>0.97</c:v>
                </c:pt>
                <c:pt idx="7">
                  <c:v>0.88</c:v>
                </c:pt>
                <c:pt idx="8">
                  <c:v>0.81</c:v>
                </c:pt>
                <c:pt idx="9">
                  <c:v>0.76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Loss</c:v>
                </c:pt>
              </c:strCache>
            </c:strRef>
          </c:tx>
          <c:spPr>
            <a:solidFill>
              <a:srgbClr val="FFD166"/>
            </a:solidFill>
            <a:ln w="31750" cap="flat">
              <a:solidFill>
                <a:srgbClr val="FFD1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D166"/>
              </a:solidFill>
              <a:ln w="9525" cap="flat">
                <a:solidFill>
                  <a:srgbClr val="FFD1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E1</c:v>
                  </c:pt>
                  <c:pt idx="1">
                    <c:v>E3</c:v>
                  </c:pt>
                  <c:pt idx="2">
                    <c:v>E5</c:v>
                  </c:pt>
                  <c:pt idx="3">
                    <c:v>E7</c:v>
                  </c:pt>
                  <c:pt idx="4">
                    <c:v>E9</c:v>
                  </c:pt>
                  <c:pt idx="5">
                    <c:v>E11</c:v>
                  </c:pt>
                  <c:pt idx="6">
                    <c:v>E13</c:v>
                  </c:pt>
                  <c:pt idx="7">
                    <c:v>E15</c:v>
                  </c:pt>
                  <c:pt idx="8">
                    <c:v>E17</c:v>
                  </c:pt>
                  <c:pt idx="9">
                    <c:v>E19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2.55</c:v>
                </c:pt>
                <c:pt idx="1">
                  <c:v>2.18</c:v>
                </c:pt>
                <c:pt idx="2">
                  <c:v>1.85</c:v>
                </c:pt>
                <c:pt idx="3">
                  <c:v>1.58</c:v>
                </c:pt>
                <c:pt idx="4">
                  <c:v>1.38</c:v>
                </c:pt>
                <c:pt idx="5">
                  <c:v>1.22</c:v>
                </c:pt>
                <c:pt idx="6">
                  <c:v>1.1</c:v>
                </c:pt>
                <c:pt idx="7">
                  <c:v>1.02</c:v>
                </c:pt>
                <c:pt idx="8">
                  <c:v>0.97</c:v>
                </c:pt>
                <c:pt idx="9">
                  <c:v>0.93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B82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27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B82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C8D0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22295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4114800" cy="4114800"/>
          </a:xfrm>
          <a:prstGeom prst="ellipse">
            <a:avLst/>
          </a:prstGeom>
          <a:solidFill>
            <a:srgbClr val="6C3DE8">
              <a:alpha val="25000"/>
            </a:srgbClr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2926080" cy="2926080"/>
          </a:xfrm>
          <a:prstGeom prst="ellipse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1828800"/>
            <a:ext cx="1828800" cy="1828800"/>
          </a:xfrm>
          <a:prstGeom prst="ellipse">
            <a:avLst/>
          </a:prstGeom>
          <a:solidFill>
            <a:srgbClr val="9B59D7">
              <a:alpha val="15000"/>
            </a:srgbClr>
          </a:solidFill>
          <a:ln w="12700">
            <a:solidFill>
              <a:srgbClr val="9B59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Word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App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41148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9067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· NLP · Deep Learning · Streamlit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029200" cy="1005840"/>
          </a:xfrm>
          <a:prstGeom prst="rect">
            <a:avLst/>
          </a:prstGeom>
          <a:solidFill>
            <a:srgbClr val="1C2254"/>
          </a:solidFill>
          <a:ln w="1016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703320"/>
            <a:ext cx="64008" cy="10058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7490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Shruti Gupta &amp; Shreya Sinha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Technology Students  |  AI &amp; NLP Enthusiasts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51A3D"/>
          </a:solidFill>
          <a:ln w="12700">
            <a:solidFill>
              <a:srgbClr val="151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B82B5"/>
                </a:solidFill>
              </a:rPr>
              <a:t>AI Project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00D4FF">
              <a:alpha val="1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</a:rPr>
              <a:t>OVERVIEW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Tech Stack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64008" cy="658368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71600"/>
            <a:ext cx="4023360" cy="3291840"/>
          </a:xfrm>
          <a:prstGeom prst="rect">
            <a:avLst/>
          </a:prstGeom>
          <a:solidFill>
            <a:srgbClr val="1C2254"/>
          </a:solidFill>
          <a:ln w="635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813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Word Prediction System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NLP application that predicts the most likely next word in a sequence, powered by a Bidirectional LSTM neural network trained on 50,000 synthetic sentences.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4069080" cy="548640"/>
          </a:xfrm>
          <a:prstGeom prst="rect">
            <a:avLst/>
          </a:prstGeom>
          <a:solidFill>
            <a:srgbClr val="22295F"/>
          </a:solidFill>
          <a:ln w="1270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371600"/>
            <a:ext cx="64008" cy="54864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029968"/>
            <a:ext cx="4069080" cy="548640"/>
          </a:xfrm>
          <a:prstGeom prst="rect">
            <a:avLst/>
          </a:prstGeom>
          <a:solidFill>
            <a:srgbClr val="22295F"/>
          </a:solidFill>
          <a:ln w="12700">
            <a:solidFill>
              <a:srgbClr val="2196F3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2029968"/>
            <a:ext cx="64008" cy="5486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0299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688336"/>
            <a:ext cx="4069080" cy="548640"/>
          </a:xfrm>
          <a:prstGeom prst="rect">
            <a:avLst/>
          </a:prstGeom>
          <a:solidFill>
            <a:srgbClr val="22295F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688336"/>
            <a:ext cx="64008" cy="5486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68833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3346704"/>
            <a:ext cx="4069080" cy="548640"/>
          </a:xfrm>
          <a:prstGeom prst="rect">
            <a:avLst/>
          </a:prstGeom>
          <a:solidFill>
            <a:srgbClr val="22295F"/>
          </a:solidFill>
          <a:ln w="12700">
            <a:solidFill>
              <a:srgbClr val="FF5252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346704"/>
            <a:ext cx="64008" cy="54864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34670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(Web Deploy)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4005072"/>
            <a:ext cx="4069080" cy="548640"/>
          </a:xfrm>
          <a:prstGeom prst="rect">
            <a:avLst/>
          </a:prstGeom>
          <a:solidFill>
            <a:srgbClr val="22295F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4005072"/>
            <a:ext cx="64008" cy="5486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400507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 (Version Control)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9B59D7">
              <a:alpha val="20000"/>
            </a:srgbClr>
          </a:solidFill>
          <a:ln w="12700">
            <a:solidFill>
              <a:srgbClr val="9B59D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</a:rPr>
              <a:t>PROBLEM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64008" cy="658368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1280160"/>
          </a:xfrm>
          <a:prstGeom prst="rect">
            <a:avLst/>
          </a:prstGeom>
          <a:solidFill>
            <a:srgbClr val="6C3DE8">
              <a:alpha val="30000"/>
            </a:srgbClr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08760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"Given a sequence of words, predict the most probable next word."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2697480" cy="1828800"/>
          </a:xfrm>
          <a:prstGeom prst="rect">
            <a:avLst/>
          </a:prstGeom>
          <a:solidFill>
            <a:srgbClr val="1C2254"/>
          </a:solidFill>
          <a:ln w="635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926080"/>
            <a:ext cx="269748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175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Task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42900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next word given all previous words in a sentence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46120" y="2926080"/>
            <a:ext cx="2697480" cy="1828800"/>
          </a:xfrm>
          <a:prstGeom prst="rect">
            <a:avLst/>
          </a:prstGeom>
          <a:solidFill>
            <a:srgbClr val="1C2254"/>
          </a:solidFill>
          <a:ln w="635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2926080"/>
            <a:ext cx="269748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30175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342900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chatbots, auto-complete, AI writing assistants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26480" y="2926080"/>
            <a:ext cx="2697480" cy="1828800"/>
          </a:xfrm>
          <a:prstGeom prst="rect">
            <a:avLst/>
          </a:prstGeom>
          <a:solidFill>
            <a:srgbClr val="1C2254"/>
          </a:solidFill>
          <a:ln w="635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2926080"/>
            <a:ext cx="269748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30175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342900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long-range context — solved with BiLSTM memory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B82B5"/>
                </a:solidFill>
              </a:rPr>
              <a:t>Example:  'I am'  →  happy / tired / hungry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743200" cy="2743200"/>
          </a:xfrm>
          <a:prstGeom prst="ellipse">
            <a:avLst/>
          </a:prstGeom>
          <a:solidFill>
            <a:srgbClr val="FFD166">
              <a:alpha val="17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</a:rPr>
              <a:t>DATASET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Details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64008" cy="658368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17320"/>
            <a:ext cx="1965960" cy="1920240"/>
          </a:xfrm>
          <a:prstGeom prst="rect">
            <a:avLst/>
          </a:prstGeom>
          <a:solidFill>
            <a:srgbClr val="1C2254"/>
          </a:solidFill>
          <a:ln w="635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1965960" cy="54864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5448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C3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11480" y="251460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Sentences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68880" y="1417320"/>
            <a:ext cx="1965960" cy="1920240"/>
          </a:xfrm>
          <a:prstGeom prst="rect">
            <a:avLst/>
          </a:prstGeom>
          <a:solidFill>
            <a:srgbClr val="1C2254"/>
          </a:solidFill>
          <a:ln w="635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417320"/>
            <a:ext cx="196596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55448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2560320" y="251460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Words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1417320"/>
            <a:ext cx="1965960" cy="1920240"/>
          </a:xfrm>
          <a:prstGeom prst="rect">
            <a:avLst/>
          </a:prstGeom>
          <a:solidFill>
            <a:srgbClr val="1C2254"/>
          </a:solidFill>
          <a:ln w="635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417320"/>
            <a:ext cx="196596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55448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709160" y="251460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+ Technical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1417320"/>
            <a:ext cx="1965960" cy="1920240"/>
          </a:xfrm>
          <a:prstGeom prst="rect">
            <a:avLst/>
          </a:prstGeom>
          <a:solidFill>
            <a:srgbClr val="1C2254"/>
          </a:solidFill>
          <a:ln w="635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417320"/>
            <a:ext cx="1965960" cy="54864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55448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6858000" y="251460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Diversity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566160"/>
            <a:ext cx="8503920" cy="1325880"/>
          </a:xfrm>
          <a:prstGeom prst="rect">
            <a:avLst/>
          </a:prstGeom>
          <a:solidFill>
            <a:srgbClr val="1C2254"/>
          </a:solidFill>
          <a:ln w="635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657600"/>
            <a:ext cx="8183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Design: </a:t>
            </a:r>
            <a:pPr indent="0" marL="0">
              <a:buNone/>
            </a:pPr>
            <a:r>
              <a:rPr lang="en-US" sz="130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was synthetically generated with a balance of everyday conversational language and technical terminology. Capping vocabulary at 30,000 words ensures the model generalises well without an unwieldy softmax output layer.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2286000"/>
            <a:ext cx="3200400" cy="3200400"/>
          </a:xfrm>
          <a:prstGeom prst="ellipse">
            <a:avLst/>
          </a:prstGeom>
          <a:solidFill>
            <a:srgbClr val="6C3DE8">
              <a:alpha val="15000"/>
            </a:srgbClr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</a:rPr>
              <a:t>ARCHITECTURE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64008" cy="658368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8412480" cy="749808"/>
          </a:xfrm>
          <a:prstGeom prst="rect">
            <a:avLst/>
          </a:prstGeom>
          <a:solidFill>
            <a:srgbClr val="1C2254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17320"/>
            <a:ext cx="64008" cy="7498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538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Embedding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417320"/>
            <a:ext cx="5257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→ Dense vector representation (semantic meaning)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2167128"/>
            <a:ext cx="36576" cy="118872"/>
          </a:xfrm>
          <a:prstGeom prst="rect">
            <a:avLst/>
          </a:prstGeom>
          <a:solidFill>
            <a:srgbClr val="7B82B5"/>
          </a:solidFill>
          <a:ln w="12700">
            <a:solidFill>
              <a:srgbClr val="7B82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86000"/>
            <a:ext cx="8412480" cy="749808"/>
          </a:xfrm>
          <a:prstGeom prst="rect">
            <a:avLst/>
          </a:prstGeom>
          <a:solidFill>
            <a:srgbClr val="1C2254"/>
          </a:solidFill>
          <a:ln w="1270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86000"/>
            <a:ext cx="64008" cy="749808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32257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Bidirectional LSTM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2286000"/>
            <a:ext cx="5257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context from both past and future words simultaneously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34840" y="3035808"/>
            <a:ext cx="36576" cy="118872"/>
          </a:xfrm>
          <a:prstGeom prst="rect">
            <a:avLst/>
          </a:prstGeom>
          <a:solidFill>
            <a:srgbClr val="7B82B5"/>
          </a:solidFill>
          <a:ln w="12700">
            <a:solidFill>
              <a:srgbClr val="7B82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154680"/>
            <a:ext cx="8412480" cy="749808"/>
          </a:xfrm>
          <a:prstGeom prst="rect">
            <a:avLst/>
          </a:prstGeom>
          <a:solidFill>
            <a:srgbClr val="1C2254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154680"/>
            <a:ext cx="64008" cy="7498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1912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Dropout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83280" y="3154680"/>
            <a:ext cx="5257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 — prevents overfitting on training data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34840" y="3904488"/>
            <a:ext cx="36576" cy="118872"/>
          </a:xfrm>
          <a:prstGeom prst="rect">
            <a:avLst/>
          </a:prstGeom>
          <a:solidFill>
            <a:srgbClr val="7B82B5"/>
          </a:solidFill>
          <a:ln w="12700">
            <a:solidFill>
              <a:srgbClr val="7B82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23360"/>
            <a:ext cx="8412480" cy="749808"/>
          </a:xfrm>
          <a:prstGeom prst="rect">
            <a:avLst/>
          </a:prstGeom>
          <a:solidFill>
            <a:srgbClr val="1C2254"/>
          </a:solidFill>
          <a:ln w="12700">
            <a:solidFill>
              <a:srgbClr val="FF5252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023360"/>
            <a:ext cx="64008" cy="74980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05993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Dense + Softmax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4023360"/>
            <a:ext cx="5257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probability distribution over entire vocabulary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114800"/>
            <a:ext cx="2743200" cy="2743200"/>
          </a:xfrm>
          <a:prstGeom prst="ellipse">
            <a:avLst/>
          </a:prstGeom>
          <a:solidFill>
            <a:srgbClr val="00D4FF">
              <a:alpha val="1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0"/>
            <a:ext cx="2743200" cy="2743200"/>
          </a:xfrm>
          <a:prstGeom prst="ellipse">
            <a:avLst/>
          </a:prstGeom>
          <a:solidFill>
            <a:srgbClr val="FFD166">
              <a:alpha val="1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</a:rPr>
              <a:t>TRAINING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594360"/>
            <a:ext cx="64008" cy="658368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17320"/>
            <a:ext cx="5120640" cy="3429000"/>
          </a:xfrm>
          <a:prstGeom prst="rect">
            <a:avLst/>
          </a:prstGeom>
          <a:solidFill>
            <a:srgbClr val="1C2254"/>
          </a:solidFill>
          <a:ln w="635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1627632"/>
            <a:ext cx="2560320" cy="320040"/>
          </a:xfrm>
          <a:prstGeom prst="rect">
            <a:avLst/>
          </a:prstGeom>
          <a:solidFill>
            <a:srgbClr val="6C3DE8">
              <a:alpha val="40000"/>
            </a:srgbClr>
          </a:solidFill>
          <a:ln w="6350">
            <a:solidFill>
              <a:srgbClr val="6C3D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Categorical Crossentropy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1854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0" y="2258568"/>
            <a:ext cx="2560320" cy="320040"/>
          </a:xfrm>
          <a:prstGeom prst="rect">
            <a:avLst/>
          </a:prstGeom>
          <a:solidFill>
            <a:srgbClr val="00D4FF">
              <a:alpha val="40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21854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8163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Split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0" y="2889504"/>
            <a:ext cx="2560320" cy="320040"/>
          </a:xfrm>
          <a:prstGeom prst="rect">
            <a:avLst/>
          </a:prstGeom>
          <a:solidFill>
            <a:srgbClr val="FFD166">
              <a:alpha val="40000"/>
            </a:srgbClr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8163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447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0" y="3520440"/>
            <a:ext cx="2560320" cy="320040"/>
          </a:xfrm>
          <a:prstGeom prst="rect">
            <a:avLst/>
          </a:prstGeom>
          <a:solidFill>
            <a:srgbClr val="5CDD8B">
              <a:alpha val="40000"/>
            </a:srgbClr>
          </a:solidFill>
          <a:ln w="6350">
            <a:solidFill>
              <a:srgbClr val="5CDD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34472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0782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0" y="4151376"/>
            <a:ext cx="2560320" cy="320040"/>
          </a:xfrm>
          <a:prstGeom prst="rect">
            <a:avLst/>
          </a:prstGeom>
          <a:solidFill>
            <a:srgbClr val="FF5252">
              <a:alpha val="40000"/>
            </a:srgbClr>
          </a:solidFill>
          <a:ln w="6350">
            <a:solidFill>
              <a:srgbClr val="FF52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407822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60720" y="1417320"/>
            <a:ext cx="3017520" cy="3429000"/>
          </a:xfrm>
          <a:prstGeom prst="rect">
            <a:avLst/>
          </a:prstGeom>
          <a:solidFill>
            <a:srgbClr val="22295F"/>
          </a:solidFill>
          <a:ln w="635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9788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</a:t>
            </a:r>
            <a:endParaRPr lang="en-US" sz="13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5760720" y="1920240"/>
          <a:ext cx="30175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371600"/>
            <a:ext cx="3657600" cy="3657600"/>
          </a:xfrm>
          <a:prstGeom prst="ellipse">
            <a:avLst/>
          </a:prstGeom>
          <a:solidFill>
            <a:srgbClr val="00D4FF">
              <a:alpha val="1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</a:rPr>
              <a:t>DEPLOYMENT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Deployment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64008" cy="658368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4160520" cy="1600200"/>
          </a:xfrm>
          <a:prstGeom prst="rect">
            <a:avLst/>
          </a:prstGeom>
          <a:solidFill>
            <a:srgbClr val="1C2254"/>
          </a:solidFill>
          <a:ln w="635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45920"/>
            <a:ext cx="594360" cy="594360"/>
          </a:xfrm>
          <a:prstGeom prst="ellipse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16184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Interface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0116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web UI built with Streamlit — no front-end code required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1417320"/>
            <a:ext cx="4160520" cy="1600200"/>
          </a:xfrm>
          <a:prstGeom prst="rect">
            <a:avLst/>
          </a:prstGeom>
          <a:solidFill>
            <a:srgbClr val="1C2254"/>
          </a:solidFill>
          <a:ln w="635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83480" y="1645920"/>
            <a:ext cx="594360" cy="594360"/>
          </a:xfrm>
          <a:prstGeom prst="ellipse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760720" y="16184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760720" y="20116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any sentence into the text field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4160520" cy="1600200"/>
          </a:xfrm>
          <a:prstGeom prst="rect">
            <a:avLst/>
          </a:prstGeom>
          <a:solidFill>
            <a:srgbClr val="1C2254"/>
          </a:solidFill>
          <a:ln w="635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429000"/>
            <a:ext cx="594360" cy="594360"/>
          </a:xfrm>
          <a:prstGeom prst="ellipse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429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340156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Inference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3794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model processes tokens and runs forward pass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3200400"/>
            <a:ext cx="4160520" cy="1600200"/>
          </a:xfrm>
          <a:prstGeom prst="rect">
            <a:avLst/>
          </a:prstGeom>
          <a:solidFill>
            <a:srgbClr val="1C2254"/>
          </a:solidFill>
          <a:ln w="635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83480" y="3429000"/>
            <a:ext cx="594360" cy="594360"/>
          </a:xfrm>
          <a:prstGeom prst="ellipse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3429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760720" y="340156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760720" y="3794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next word displayed instantly in green result box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2286000"/>
            <a:ext cx="4572000" cy="4572000"/>
          </a:xfrm>
          <a:prstGeom prst="ellipse">
            <a:avLst/>
          </a:prstGeom>
          <a:solidFill>
            <a:srgbClr val="151A3D">
              <a:alpha val="50000"/>
            </a:srgbClr>
          </a:solidFill>
          <a:ln w="12700">
            <a:solidFill>
              <a:srgbClr val="151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</a:rPr>
              <a:t>DEMO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 Screenshots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64008" cy="658368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89888"/>
            <a:ext cx="4160520" cy="3429000"/>
          </a:xfrm>
          <a:prstGeom prst="rect">
            <a:avLst/>
          </a:prstGeom>
          <a:solidFill>
            <a:srgbClr val="1C2254"/>
          </a:solidFill>
          <a:ln w="635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pic>
        <p:nvPicPr>
          <p:cNvPr id="8" name="Image 0" descr="/mnt/user-data/uploads/WhatsApp_Image_2026-02-18_at_9_13_55_PM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481328"/>
            <a:ext cx="3977640" cy="2606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0040" y="4087368"/>
            <a:ext cx="4160520" cy="731520"/>
          </a:xfrm>
          <a:prstGeom prst="rect">
            <a:avLst/>
          </a:prstGeom>
          <a:solidFill>
            <a:srgbClr val="6C3DE8">
              <a:alpha val="70000"/>
            </a:srgbClr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411480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"i am hungry"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Next Word: and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389888"/>
            <a:ext cx="4160520" cy="3429000"/>
          </a:xfrm>
          <a:prstGeom prst="rect">
            <a:avLst/>
          </a:prstGeom>
          <a:solidFill>
            <a:srgbClr val="1C2254"/>
          </a:solidFill>
          <a:ln w="635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mnt/user-data/uploads/WhatsApp_Image_2026-02-18_at_9_13_56_PM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481328"/>
            <a:ext cx="3977640" cy="2606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663440" y="4087368"/>
            <a:ext cx="4160520" cy="731520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54880" y="411480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"i am hungry and i want to"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Next Word: play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00D4FF">
              <a:alpha val="1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0"/>
            <a:ext cx="2743200" cy="2743200"/>
          </a:xfrm>
          <a:prstGeom prst="ellipse">
            <a:avLst/>
          </a:prstGeom>
          <a:solidFill>
            <a:srgbClr val="6C3DE8">
              <a:alpha val="18000"/>
            </a:srgbClr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</a:rPr>
              <a:t>RESULTS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Observations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594360"/>
            <a:ext cx="64008" cy="658368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17320"/>
            <a:ext cx="4160520" cy="1600200"/>
          </a:xfrm>
          <a:prstGeom prst="rect">
            <a:avLst/>
          </a:prstGeom>
          <a:solidFill>
            <a:srgbClr val="1C2254"/>
          </a:solidFill>
          <a:ln w="635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234440" y="15819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Accuracy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98424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increased substantially with a larger, more diverse dataset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4160520" cy="1600200"/>
          </a:xfrm>
          <a:prstGeom prst="rect">
            <a:avLst/>
          </a:prstGeom>
          <a:solidFill>
            <a:srgbClr val="1C2254"/>
          </a:solidFill>
          <a:ln w="635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🔀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669280" y="15819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Predictions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198424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generates varied and contextually appropriate next words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3200400"/>
            <a:ext cx="4160520" cy="1600200"/>
          </a:xfrm>
          <a:prstGeom prst="rect">
            <a:avLst/>
          </a:prstGeom>
          <a:solidFill>
            <a:srgbClr val="1C2254"/>
          </a:solidFill>
          <a:ln w="635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34440" y="3364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Learning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76732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language patterns through BiLSTM's memory cells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3200400"/>
            <a:ext cx="4160520" cy="1600200"/>
          </a:xfrm>
          <a:prstGeom prst="rect">
            <a:avLst/>
          </a:prstGeom>
          <a:solidFill>
            <a:srgbClr val="1C2254"/>
          </a:solidFill>
          <a:ln w="635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669280" y="3364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Modelling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0" y="376732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output enables ranked predictions across 30K vocabulary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743200"/>
            <a:ext cx="4572000" cy="4572000"/>
          </a:xfrm>
          <a:prstGeom prst="ellipse">
            <a:avLst/>
          </a:prstGeom>
          <a:solidFill>
            <a:srgbClr val="6C3DE8">
              <a:alpha val="15000"/>
            </a:srgbClr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</a:rPr>
              <a:t>FUTURE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64008" cy="658368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89888"/>
            <a:ext cx="8412480" cy="749808"/>
          </a:xfrm>
          <a:prstGeom prst="rect">
            <a:avLst/>
          </a:prstGeom>
          <a:solidFill>
            <a:srgbClr val="1C2254"/>
          </a:solidFill>
          <a:ln w="635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89888"/>
            <a:ext cx="64008" cy="7498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37360"/>
            <a:ext cx="2560320" cy="18288"/>
          </a:xfrm>
          <a:prstGeom prst="rect">
            <a:avLst/>
          </a:prstGeom>
          <a:solidFill>
            <a:srgbClr val="7B82B5">
              <a:alpha val="40000"/>
            </a:srgbClr>
          </a:solidFill>
          <a:ln w="12700">
            <a:solidFill>
              <a:srgbClr val="7B82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264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Sampling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389888"/>
            <a:ext cx="5349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creativity control so predictions are tunable from conservative to imaginative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8412480" cy="749808"/>
          </a:xfrm>
          <a:prstGeom prst="rect">
            <a:avLst/>
          </a:prstGeom>
          <a:solidFill>
            <a:srgbClr val="1C2254"/>
          </a:solidFill>
          <a:ln w="635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40280"/>
            <a:ext cx="64008" cy="7498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587752"/>
            <a:ext cx="2560320" cy="18288"/>
          </a:xfrm>
          <a:prstGeom prst="rect">
            <a:avLst/>
          </a:prstGeom>
          <a:solidFill>
            <a:srgbClr val="7B82B5">
              <a:alpha val="40000"/>
            </a:srgbClr>
          </a:solidFill>
          <a:ln w="12700">
            <a:solidFill>
              <a:srgbClr val="7B82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27685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Visualization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2240280"/>
            <a:ext cx="5349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ranked list of top-k next words with confidence probabilities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090672"/>
            <a:ext cx="8412480" cy="749808"/>
          </a:xfrm>
          <a:prstGeom prst="rect">
            <a:avLst/>
          </a:prstGeom>
          <a:solidFill>
            <a:srgbClr val="1C2254"/>
          </a:solidFill>
          <a:ln w="635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90672"/>
            <a:ext cx="64008" cy="749808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438144"/>
            <a:ext cx="2560320" cy="18288"/>
          </a:xfrm>
          <a:prstGeom prst="rect">
            <a:avLst/>
          </a:prstGeom>
          <a:solidFill>
            <a:srgbClr val="7B82B5">
              <a:alpha val="40000"/>
            </a:srgbClr>
          </a:solidFill>
          <a:ln w="12700">
            <a:solidFill>
              <a:srgbClr val="7B82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1272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37560" y="3090672"/>
            <a:ext cx="5349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from BiLSTM to a Transformer model for state-of-the-art performance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941064"/>
            <a:ext cx="8412480" cy="749808"/>
          </a:xfrm>
          <a:prstGeom prst="rect">
            <a:avLst/>
          </a:prstGeom>
          <a:solidFill>
            <a:srgbClr val="1C2254"/>
          </a:solidFill>
          <a:ln w="635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941064"/>
            <a:ext cx="64008" cy="749808"/>
          </a:xfrm>
          <a:prstGeom prst="rect">
            <a:avLst/>
          </a:prstGeom>
          <a:solidFill>
            <a:srgbClr val="5CDD8B"/>
          </a:solidFill>
          <a:ln w="12700">
            <a:solidFill>
              <a:srgbClr val="5CDD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288536"/>
            <a:ext cx="2560320" cy="18288"/>
          </a:xfrm>
          <a:prstGeom prst="rect">
            <a:avLst/>
          </a:prstGeom>
          <a:solidFill>
            <a:srgbClr val="7B82B5">
              <a:alpha val="40000"/>
            </a:srgbClr>
          </a:solidFill>
          <a:ln w="12700">
            <a:solidFill>
              <a:srgbClr val="7B82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9776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D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&amp; Scale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37560" y="3941064"/>
            <a:ext cx="5349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AWS/GCP with load balancing for multi-user real-time access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029200" cy="5029200"/>
          </a:xfrm>
          <a:prstGeom prst="ellipse">
            <a:avLst/>
          </a:prstGeom>
          <a:solidFill>
            <a:srgbClr val="6C3DE8">
              <a:alpha val="25000"/>
            </a:srgbClr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3657600" cy="3657600"/>
          </a:xfrm>
          <a:prstGeom prst="ellipse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1828800"/>
            <a:ext cx="1828800" cy="1828800"/>
          </a:xfrm>
          <a:prstGeom prst="ellipse">
            <a:avLst/>
          </a:prstGeom>
          <a:solidFill>
            <a:srgbClr val="9B59D7">
              <a:alpha val="15000"/>
            </a:srgbClr>
          </a:solidFill>
          <a:ln w="12700">
            <a:solidFill>
              <a:srgbClr val="9B59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743200" y="2697480"/>
            <a:ext cx="36576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2926080"/>
            <a:ext cx="5120640" cy="1554480"/>
          </a:xfrm>
          <a:prstGeom prst="rect">
            <a:avLst/>
          </a:prstGeom>
          <a:solidFill>
            <a:srgbClr val="1C2254"/>
          </a:solidFill>
          <a:ln w="6350">
            <a:solidFill>
              <a:srgbClr val="6C3DE8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03120" y="30175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Shruti Gupta &amp; Shreya Sinha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Technology | AI &amp; NLP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8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Word Prediction using BiLSTM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 Word Predictor – BiLSTM Project</dc:title>
  <dc:subject>PptxGenJS Presentation</dc:subject>
  <dc:creator>PptxGenJS</dc:creator>
  <cp:lastModifiedBy>PptxGenJS</cp:lastModifiedBy>
  <cp:revision>1</cp:revision>
  <dcterms:created xsi:type="dcterms:W3CDTF">2026-02-18T17:07:13Z</dcterms:created>
  <dcterms:modified xsi:type="dcterms:W3CDTF">2026-02-18T17:07:13Z</dcterms:modified>
</cp:coreProperties>
</file>